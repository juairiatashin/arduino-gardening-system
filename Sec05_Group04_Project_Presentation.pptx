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Nunito"/>
      <p:regular r:id="rId17"/>
      <p:bold r:id="rId18"/>
      <p:italic r:id="rId19"/>
      <p:boldItalic r:id="rId20"/>
    </p:embeddedFont>
    <p:embeddedFont>
      <p:font typeface="Do Hyeon"/>
      <p:regular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bold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DoHyeon-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italic.fntdata"/><Relationship Id="rId6" Type="http://schemas.openxmlformats.org/officeDocument/2006/relationships/slide" Target="slides/slide1.xml"/><Relationship Id="rId18" Type="http://schemas.openxmlformats.org/officeDocument/2006/relationships/font" Target="fonts/Nuni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d20ac6369a_0_3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d20ac6369a_0_3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d20ac6369a_0_50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d20ac6369a_0_50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d20ac6369a_0_50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d20ac6369a_0_50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d20ac6369a_0_5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d20ac6369a_0_5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d20ac6369a_0_5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d20ac6369a_0_5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d20ac6369a_0_5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d20ac6369a_0_5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d20ac6369a_0_5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d20ac6369a_0_5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d20ac6369a_0_5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d20ac6369a_0_5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d20ac6369a_0_5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d20ac6369a_0_5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d20ac6369a_0_5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d20ac6369a_0_5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youtu.be/1XpAGRIVjLs?si=evUT0hxZhoTXJzI4" TargetMode="External"/><Relationship Id="rId4" Type="http://schemas.openxmlformats.org/officeDocument/2006/relationships/hyperlink" Target="https://docs.google.com/document/d/1SJEJcB4pIzOHHGvd-KtKQgRqx-XAWSVTixVQa3q8YEk/edit?usp=sharing" TargetMode="External"/><Relationship Id="rId5" Type="http://schemas.openxmlformats.org/officeDocument/2006/relationships/hyperlink" Target="https://drive.google.com/file/d/15SGIrcsE7vEtXFcmJlnAgtYlcUiz8CkW/view?usp=shar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7" name="Shape 127"/>
        <p:cNvGrpSpPr/>
        <p:nvPr/>
      </p:nvGrpSpPr>
      <p:grpSpPr>
        <a:xfrm>
          <a:off x="0" y="0"/>
          <a:ext cx="0" cy="0"/>
          <a:chOff x="0" y="0"/>
          <a:chExt cx="0" cy="0"/>
        </a:xfrm>
      </p:grpSpPr>
      <p:sp>
        <p:nvSpPr>
          <p:cNvPr id="128" name="Google Shape;128;p13"/>
          <p:cNvSpPr txBox="1"/>
          <p:nvPr>
            <p:ph type="title"/>
          </p:nvPr>
        </p:nvSpPr>
        <p:spPr>
          <a:xfrm>
            <a:off x="1377450" y="1555000"/>
            <a:ext cx="5944200" cy="2232600"/>
          </a:xfrm>
          <a:prstGeom prst="rect">
            <a:avLst/>
          </a:prstGeom>
        </p:spPr>
        <p:txBody>
          <a:bodyPr anchorCtr="0" anchor="ctr" bIns="91425" lIns="91425" spcFirstLastPara="1" rIns="91425" wrap="square" tIns="91425">
            <a:normAutofit/>
          </a:bodyPr>
          <a:lstStyle/>
          <a:p>
            <a:pPr indent="0" lvl="0" marL="0" rtl="0" algn="just">
              <a:spcBef>
                <a:spcPts val="0"/>
              </a:spcBef>
              <a:spcAft>
                <a:spcPts val="0"/>
              </a:spcAft>
              <a:buNone/>
            </a:pPr>
            <a:r>
              <a:rPr b="1" lang="en" sz="3300">
                <a:solidFill>
                  <a:srgbClr val="000000"/>
                </a:solidFill>
                <a:highlight>
                  <a:schemeClr val="lt2"/>
                </a:highlight>
                <a:latin typeface="Do Hyeon"/>
                <a:ea typeface="Do Hyeon"/>
                <a:cs typeface="Do Hyeon"/>
                <a:sym typeface="Do Hyeon"/>
              </a:rPr>
              <a:t>WELCOME TO CSE461 PROJECT PRESENTATION OF GROUP 04</a:t>
            </a:r>
            <a:endParaRPr b="1" sz="3300">
              <a:solidFill>
                <a:srgbClr val="000000"/>
              </a:solidFill>
              <a:highlight>
                <a:schemeClr val="lt2"/>
              </a:highlight>
              <a:latin typeface="Do Hyeon"/>
              <a:ea typeface="Do Hyeon"/>
              <a:cs typeface="Do Hyeon"/>
              <a:sym typeface="Do Hyeon"/>
            </a:endParaRPr>
          </a:p>
          <a:p>
            <a:pPr indent="0" lvl="0" marL="0" rtl="0" algn="just">
              <a:spcBef>
                <a:spcPts val="0"/>
              </a:spcBef>
              <a:spcAft>
                <a:spcPts val="0"/>
              </a:spcAft>
              <a:buClr>
                <a:srgbClr val="000000"/>
              </a:buClr>
              <a:buSzPts val="4000"/>
              <a:buFont typeface="Arial"/>
              <a:buNone/>
            </a:pPr>
            <a:r>
              <a:rPr b="1" lang="en" sz="3300">
                <a:solidFill>
                  <a:srgbClr val="000000"/>
                </a:solidFill>
                <a:highlight>
                  <a:schemeClr val="lt2"/>
                </a:highlight>
                <a:latin typeface="Do Hyeon"/>
                <a:ea typeface="Do Hyeon"/>
                <a:cs typeface="Do Hyeon"/>
                <a:sym typeface="Do Hyeon"/>
              </a:rPr>
              <a:t>       </a:t>
            </a:r>
            <a:r>
              <a:rPr b="1" lang="en" sz="3700">
                <a:solidFill>
                  <a:srgbClr val="674EA7"/>
                </a:solidFill>
                <a:highlight>
                  <a:schemeClr val="lt2"/>
                </a:highlight>
                <a:latin typeface="Do Hyeon"/>
                <a:ea typeface="Do Hyeon"/>
                <a:cs typeface="Do Hyeon"/>
                <a:sym typeface="Do Hyeon"/>
              </a:rPr>
              <a:t> Gardening System</a:t>
            </a:r>
            <a:endParaRPr b="1" sz="3700">
              <a:solidFill>
                <a:srgbClr val="674EA7"/>
              </a:solidFill>
              <a:highlight>
                <a:schemeClr val="lt2"/>
              </a:highlight>
              <a:latin typeface="Do Hyeon"/>
              <a:ea typeface="Do Hyeon"/>
              <a:cs typeface="Do Hyeon"/>
              <a:sym typeface="Do Hyeo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00">
                <a:solidFill>
                  <a:srgbClr val="4A86E8"/>
                </a:solidFill>
                <a:latin typeface="Times New Roman"/>
                <a:ea typeface="Times New Roman"/>
                <a:cs typeface="Times New Roman"/>
                <a:sym typeface="Times New Roman"/>
              </a:rPr>
              <a:t>   </a:t>
            </a:r>
            <a:r>
              <a:rPr lang="en" sz="2400">
                <a:solidFill>
                  <a:srgbClr val="B4A7D6"/>
                </a:solidFill>
                <a:latin typeface="Times New Roman"/>
                <a:ea typeface="Times New Roman"/>
                <a:cs typeface="Times New Roman"/>
                <a:sym typeface="Times New Roman"/>
              </a:rPr>
              <a:t>Group members</a:t>
            </a:r>
            <a:endParaRPr sz="2400">
              <a:solidFill>
                <a:srgbClr val="B4A7D6"/>
              </a:solidFill>
              <a:latin typeface="Times New Roman"/>
              <a:ea typeface="Times New Roman"/>
              <a:cs typeface="Times New Roman"/>
              <a:sym typeface="Times New Roman"/>
            </a:endParaRPr>
          </a:p>
        </p:txBody>
      </p:sp>
      <p:sp>
        <p:nvSpPr>
          <p:cNvPr id="134" name="Google Shape;134;p14"/>
          <p:cNvSpPr txBox="1"/>
          <p:nvPr>
            <p:ph idx="1" type="body"/>
          </p:nvPr>
        </p:nvSpPr>
        <p:spPr>
          <a:xfrm>
            <a:off x="819150" y="1800200"/>
            <a:ext cx="3686100" cy="2638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                 </a:t>
            </a:r>
            <a:r>
              <a:rPr lang="en" sz="1800">
                <a:solidFill>
                  <a:srgbClr val="4A86E8"/>
                </a:solidFill>
                <a:latin typeface="Times New Roman"/>
                <a:ea typeface="Times New Roman"/>
                <a:cs typeface="Times New Roman"/>
                <a:sym typeface="Times New Roman"/>
              </a:rPr>
              <a:t>Name:</a:t>
            </a:r>
            <a:endParaRPr sz="1800">
              <a:solidFill>
                <a:srgbClr val="4A86E8"/>
              </a:solidFill>
              <a:latin typeface="Times New Roman"/>
              <a:ea typeface="Times New Roman"/>
              <a:cs typeface="Times New Roman"/>
              <a:sym typeface="Times New Roman"/>
            </a:endParaRPr>
          </a:p>
          <a:p>
            <a:pPr indent="0" lvl="0" marL="0" rtl="0" algn="l">
              <a:spcBef>
                <a:spcPts val="1200"/>
              </a:spcBef>
              <a:spcAft>
                <a:spcPts val="0"/>
              </a:spcAft>
              <a:buNone/>
            </a:pPr>
            <a:r>
              <a:rPr lang="en" sz="1800">
                <a:solidFill>
                  <a:srgbClr val="4A86E8"/>
                </a:solidFill>
                <a:latin typeface="Times New Roman"/>
                <a:ea typeface="Times New Roman"/>
                <a:cs typeface="Times New Roman"/>
                <a:sym typeface="Times New Roman"/>
              </a:rPr>
              <a:t>            Tasnim Rahman</a:t>
            </a:r>
            <a:endParaRPr sz="1800">
              <a:solidFill>
                <a:srgbClr val="4A86E8"/>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rgbClr val="4A86E8"/>
                </a:solidFill>
                <a:latin typeface="Times New Roman"/>
                <a:ea typeface="Times New Roman"/>
                <a:cs typeface="Times New Roman"/>
                <a:sym typeface="Times New Roman"/>
              </a:rPr>
              <a:t>            Juaria Tashin</a:t>
            </a:r>
            <a:endParaRPr sz="1800">
              <a:solidFill>
                <a:srgbClr val="4A86E8"/>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rgbClr val="4A86E8"/>
                </a:solidFill>
                <a:latin typeface="Times New Roman"/>
                <a:ea typeface="Times New Roman"/>
                <a:cs typeface="Times New Roman"/>
                <a:sym typeface="Times New Roman"/>
              </a:rPr>
              <a:t>            Jahidul Hassan Rifat</a:t>
            </a:r>
            <a:endParaRPr sz="1800">
              <a:solidFill>
                <a:srgbClr val="4A86E8"/>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rgbClr val="4A86E8"/>
                </a:solidFill>
                <a:latin typeface="Times New Roman"/>
                <a:ea typeface="Times New Roman"/>
                <a:cs typeface="Times New Roman"/>
                <a:sym typeface="Times New Roman"/>
              </a:rPr>
              <a:t>            Aarshi Durriya Raihan</a:t>
            </a:r>
            <a:endParaRPr sz="1800">
              <a:solidFill>
                <a:srgbClr val="4A86E8"/>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rgbClr val="4A86E8"/>
                </a:solidFill>
                <a:latin typeface="Times New Roman"/>
                <a:ea typeface="Times New Roman"/>
                <a:cs typeface="Times New Roman"/>
                <a:sym typeface="Times New Roman"/>
              </a:rPr>
              <a:t>            Nuhash Kabir Neeha</a:t>
            </a:r>
            <a:endParaRPr sz="1800">
              <a:solidFill>
                <a:srgbClr val="4A86E8"/>
              </a:solidFill>
              <a:latin typeface="Times New Roman"/>
              <a:ea typeface="Times New Roman"/>
              <a:cs typeface="Times New Roman"/>
              <a:sym typeface="Times New Roman"/>
            </a:endParaRPr>
          </a:p>
          <a:p>
            <a:pPr indent="0" lvl="0" marL="0" rtl="0" algn="l">
              <a:spcBef>
                <a:spcPts val="0"/>
              </a:spcBef>
              <a:spcAft>
                <a:spcPts val="1200"/>
              </a:spcAft>
              <a:buNone/>
            </a:pPr>
            <a:r>
              <a:t/>
            </a:r>
            <a:endParaRPr>
              <a:latin typeface="Times New Roman"/>
              <a:ea typeface="Times New Roman"/>
              <a:cs typeface="Times New Roman"/>
              <a:sym typeface="Times New Roman"/>
            </a:endParaRPr>
          </a:p>
        </p:txBody>
      </p:sp>
      <p:sp>
        <p:nvSpPr>
          <p:cNvPr id="135" name="Google Shape;135;p14"/>
          <p:cNvSpPr txBox="1"/>
          <p:nvPr>
            <p:ph idx="2" type="body"/>
          </p:nvPr>
        </p:nvSpPr>
        <p:spPr>
          <a:xfrm>
            <a:off x="4638775" y="1800225"/>
            <a:ext cx="3686100" cy="2638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rgbClr val="4A86E8"/>
                </a:solidFill>
              </a:rPr>
              <a:t>ID:</a:t>
            </a:r>
            <a:endParaRPr sz="1800">
              <a:solidFill>
                <a:srgbClr val="4A86E8"/>
              </a:solidFill>
            </a:endParaRPr>
          </a:p>
          <a:p>
            <a:pPr indent="0" lvl="0" marL="0" rtl="0" algn="l">
              <a:spcBef>
                <a:spcPts val="1200"/>
              </a:spcBef>
              <a:spcAft>
                <a:spcPts val="0"/>
              </a:spcAft>
              <a:buNone/>
            </a:pPr>
            <a:r>
              <a:rPr lang="en" sz="1800">
                <a:solidFill>
                  <a:srgbClr val="4A86E8"/>
                </a:solidFill>
                <a:latin typeface="Arial"/>
                <a:ea typeface="Arial"/>
                <a:cs typeface="Arial"/>
                <a:sym typeface="Arial"/>
              </a:rPr>
              <a:t>21201114</a:t>
            </a:r>
            <a:endParaRPr sz="1800">
              <a:solidFill>
                <a:srgbClr val="4A86E8"/>
              </a:solidFill>
              <a:latin typeface="Arial"/>
              <a:ea typeface="Arial"/>
              <a:cs typeface="Arial"/>
              <a:sym typeface="Arial"/>
            </a:endParaRPr>
          </a:p>
          <a:p>
            <a:pPr indent="0" lvl="0" marL="0" rtl="0" algn="l">
              <a:spcBef>
                <a:spcPts val="0"/>
              </a:spcBef>
              <a:spcAft>
                <a:spcPts val="0"/>
              </a:spcAft>
              <a:buNone/>
            </a:pPr>
            <a:r>
              <a:rPr lang="en" sz="1800">
                <a:solidFill>
                  <a:srgbClr val="4A86E8"/>
                </a:solidFill>
                <a:latin typeface="Arial"/>
                <a:ea typeface="Arial"/>
                <a:cs typeface="Arial"/>
                <a:sym typeface="Arial"/>
              </a:rPr>
              <a:t>23241054</a:t>
            </a:r>
            <a:endParaRPr sz="1800">
              <a:solidFill>
                <a:srgbClr val="4A86E8"/>
              </a:solidFill>
              <a:latin typeface="Arial"/>
              <a:ea typeface="Arial"/>
              <a:cs typeface="Arial"/>
              <a:sym typeface="Arial"/>
            </a:endParaRPr>
          </a:p>
          <a:p>
            <a:pPr indent="0" lvl="0" marL="0" rtl="0" algn="l">
              <a:spcBef>
                <a:spcPts val="0"/>
              </a:spcBef>
              <a:spcAft>
                <a:spcPts val="0"/>
              </a:spcAft>
              <a:buNone/>
            </a:pPr>
            <a:r>
              <a:rPr lang="en" sz="1800">
                <a:solidFill>
                  <a:srgbClr val="4A86E8"/>
                </a:solidFill>
                <a:latin typeface="Arial"/>
                <a:ea typeface="Arial"/>
                <a:cs typeface="Arial"/>
                <a:sym typeface="Arial"/>
              </a:rPr>
              <a:t>21201300</a:t>
            </a:r>
            <a:endParaRPr sz="1800">
              <a:solidFill>
                <a:srgbClr val="4A86E8"/>
              </a:solidFill>
              <a:latin typeface="Arial"/>
              <a:ea typeface="Arial"/>
              <a:cs typeface="Arial"/>
              <a:sym typeface="Arial"/>
            </a:endParaRPr>
          </a:p>
          <a:p>
            <a:pPr indent="0" lvl="0" marL="0" rtl="0" algn="l">
              <a:spcBef>
                <a:spcPts val="0"/>
              </a:spcBef>
              <a:spcAft>
                <a:spcPts val="0"/>
              </a:spcAft>
              <a:buNone/>
            </a:pPr>
            <a:r>
              <a:rPr lang="en" sz="1800">
                <a:solidFill>
                  <a:srgbClr val="4A86E8"/>
                </a:solidFill>
                <a:latin typeface="Arial"/>
                <a:ea typeface="Arial"/>
                <a:cs typeface="Arial"/>
                <a:sym typeface="Arial"/>
              </a:rPr>
              <a:t>22101546</a:t>
            </a:r>
            <a:endParaRPr sz="1800">
              <a:solidFill>
                <a:srgbClr val="4A86E8"/>
              </a:solidFill>
              <a:latin typeface="Arial"/>
              <a:ea typeface="Arial"/>
              <a:cs typeface="Arial"/>
              <a:sym typeface="Arial"/>
            </a:endParaRPr>
          </a:p>
          <a:p>
            <a:pPr indent="0" lvl="0" marL="0" rtl="0" algn="l">
              <a:spcBef>
                <a:spcPts val="0"/>
              </a:spcBef>
              <a:spcAft>
                <a:spcPts val="0"/>
              </a:spcAft>
              <a:buNone/>
            </a:pPr>
            <a:r>
              <a:rPr lang="en" sz="1800">
                <a:solidFill>
                  <a:srgbClr val="4A86E8"/>
                </a:solidFill>
                <a:latin typeface="Arial"/>
                <a:ea typeface="Arial"/>
                <a:cs typeface="Arial"/>
                <a:sym typeface="Arial"/>
              </a:rPr>
              <a:t>21301025</a:t>
            </a:r>
            <a:endParaRPr sz="1800">
              <a:solidFill>
                <a:srgbClr val="4A86E8"/>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B4A7D6"/>
                </a:solidFill>
                <a:latin typeface="Times New Roman"/>
                <a:ea typeface="Times New Roman"/>
                <a:cs typeface="Times New Roman"/>
                <a:sym typeface="Times New Roman"/>
              </a:rPr>
              <a:t>Key Features</a:t>
            </a:r>
            <a:endParaRPr>
              <a:solidFill>
                <a:srgbClr val="B4A7D6"/>
              </a:solidFill>
              <a:latin typeface="Times New Roman"/>
              <a:ea typeface="Times New Roman"/>
              <a:cs typeface="Times New Roman"/>
              <a:sym typeface="Times New Roman"/>
            </a:endParaRPr>
          </a:p>
        </p:txBody>
      </p:sp>
      <p:sp>
        <p:nvSpPr>
          <p:cNvPr id="141" name="Google Shape;141;p15"/>
          <p:cNvSpPr txBox="1"/>
          <p:nvPr>
            <p:ph idx="1" type="body"/>
          </p:nvPr>
        </p:nvSpPr>
        <p:spPr>
          <a:xfrm>
            <a:off x="819150" y="1800200"/>
            <a:ext cx="7505700" cy="26385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rgbClr val="4A86E8"/>
              </a:buClr>
              <a:buSzPts val="1800"/>
              <a:buFont typeface="Times New Roman"/>
              <a:buChar char="❖"/>
            </a:pPr>
            <a:r>
              <a:rPr lang="en" sz="1800">
                <a:solidFill>
                  <a:srgbClr val="4A86E8"/>
                </a:solidFill>
                <a:latin typeface="Times New Roman"/>
                <a:ea typeface="Times New Roman"/>
                <a:cs typeface="Times New Roman"/>
                <a:sym typeface="Times New Roman"/>
              </a:rPr>
              <a:t>Remote-controlled car via mobile app.</a:t>
            </a:r>
            <a:endParaRPr sz="1800">
              <a:solidFill>
                <a:srgbClr val="4A86E8"/>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rgbClr val="4A86E8"/>
              </a:buClr>
              <a:buSzPts val="1800"/>
              <a:buFont typeface="Times New Roman"/>
              <a:buChar char="❖"/>
            </a:pPr>
            <a:r>
              <a:rPr lang="en" sz="1800">
                <a:solidFill>
                  <a:srgbClr val="4A86E8"/>
                </a:solidFill>
                <a:latin typeface="Times New Roman"/>
                <a:ea typeface="Times New Roman"/>
                <a:cs typeface="Times New Roman"/>
                <a:sym typeface="Times New Roman"/>
              </a:rPr>
              <a:t>Grass cutting blade activated by commands.</a:t>
            </a:r>
            <a:endParaRPr sz="1800">
              <a:solidFill>
                <a:srgbClr val="4A86E8"/>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rgbClr val="4A86E8"/>
              </a:buClr>
              <a:buSzPts val="1800"/>
              <a:buFont typeface="Times New Roman"/>
              <a:buChar char="❖"/>
            </a:pPr>
            <a:r>
              <a:rPr lang="en" sz="1800">
                <a:solidFill>
                  <a:srgbClr val="4A86E8"/>
                </a:solidFill>
                <a:latin typeface="Times New Roman"/>
                <a:ea typeface="Times New Roman"/>
                <a:cs typeface="Times New Roman"/>
                <a:sym typeface="Times New Roman"/>
              </a:rPr>
              <a:t>Soil moisture sensor activates water pump if needed.</a:t>
            </a:r>
            <a:endParaRPr sz="1800">
              <a:solidFill>
                <a:srgbClr val="4A86E8"/>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rgbClr val="4A86E8"/>
              </a:buClr>
              <a:buSzPts val="1800"/>
              <a:buFont typeface="Times New Roman"/>
              <a:buChar char="❖"/>
            </a:pPr>
            <a:r>
              <a:rPr lang="en" sz="1800">
                <a:solidFill>
                  <a:srgbClr val="4A86E8"/>
                </a:solidFill>
                <a:latin typeface="Times New Roman"/>
                <a:ea typeface="Times New Roman"/>
                <a:cs typeface="Times New Roman"/>
                <a:sym typeface="Times New Roman"/>
              </a:rPr>
              <a:t>Temperature sensor displays readings through mobile app</a:t>
            </a:r>
            <a:endParaRPr sz="1900">
              <a:solidFill>
                <a:srgbClr val="4A86E8"/>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A86E8"/>
                </a:solidFill>
                <a:latin typeface="Times New Roman"/>
                <a:ea typeface="Times New Roman"/>
                <a:cs typeface="Times New Roman"/>
                <a:sym typeface="Times New Roman"/>
              </a:rPr>
              <a:t>Project Overview:</a:t>
            </a:r>
            <a:endParaRPr>
              <a:solidFill>
                <a:srgbClr val="4A86E8"/>
              </a:solidFill>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47" name="Google Shape;147;p16"/>
          <p:cNvSpPr txBox="1"/>
          <p:nvPr>
            <p:ph idx="1" type="body"/>
          </p:nvPr>
        </p:nvSpPr>
        <p:spPr>
          <a:xfrm>
            <a:off x="819150" y="1800200"/>
            <a:ext cx="3686100" cy="26385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7200">
                <a:solidFill>
                  <a:srgbClr val="4A86E8"/>
                </a:solidFill>
                <a:latin typeface="Times New Roman"/>
                <a:ea typeface="Times New Roman"/>
                <a:cs typeface="Times New Roman"/>
                <a:sym typeface="Times New Roman"/>
              </a:rPr>
              <a:t>Components:</a:t>
            </a:r>
            <a:endParaRPr sz="7200">
              <a:solidFill>
                <a:srgbClr val="4A86E8"/>
              </a:solidFill>
              <a:latin typeface="Times New Roman"/>
              <a:ea typeface="Times New Roman"/>
              <a:cs typeface="Times New Roman"/>
              <a:sym typeface="Times New Roman"/>
            </a:endParaRPr>
          </a:p>
          <a:p>
            <a:pPr indent="-330200" lvl="0" marL="457200" rtl="0" algn="just">
              <a:spcBef>
                <a:spcPts val="1200"/>
              </a:spcBef>
              <a:spcAft>
                <a:spcPts val="0"/>
              </a:spcAft>
              <a:buSzPct val="100000"/>
              <a:buFont typeface="Times New Roman"/>
              <a:buChar char="●"/>
            </a:pPr>
            <a:r>
              <a:rPr lang="en" sz="6400">
                <a:latin typeface="Times New Roman"/>
                <a:ea typeface="Times New Roman"/>
                <a:cs typeface="Times New Roman"/>
                <a:sym typeface="Times New Roman"/>
              </a:rPr>
              <a:t>Arduino uno R3</a:t>
            </a:r>
            <a:endParaRPr sz="6400">
              <a:latin typeface="Times New Roman"/>
              <a:ea typeface="Times New Roman"/>
              <a:cs typeface="Times New Roman"/>
              <a:sym typeface="Times New Roman"/>
            </a:endParaRPr>
          </a:p>
          <a:p>
            <a:pPr indent="-330200" lvl="0" marL="457200" rtl="0" algn="just">
              <a:spcBef>
                <a:spcPts val="0"/>
              </a:spcBef>
              <a:spcAft>
                <a:spcPts val="0"/>
              </a:spcAft>
              <a:buSzPct val="100000"/>
              <a:buFont typeface="Times New Roman"/>
              <a:buChar char="●"/>
            </a:pPr>
            <a:r>
              <a:rPr lang="en" sz="6400">
                <a:latin typeface="Times New Roman"/>
                <a:ea typeface="Times New Roman"/>
                <a:cs typeface="Times New Roman"/>
                <a:sym typeface="Times New Roman"/>
              </a:rPr>
              <a:t>Relay mod 2 channel -80</a:t>
            </a:r>
            <a:endParaRPr sz="6400">
              <a:latin typeface="Times New Roman"/>
              <a:ea typeface="Times New Roman"/>
              <a:cs typeface="Times New Roman"/>
              <a:sym typeface="Times New Roman"/>
            </a:endParaRPr>
          </a:p>
          <a:p>
            <a:pPr indent="-330200" lvl="0" marL="457200" rtl="0" algn="just">
              <a:spcBef>
                <a:spcPts val="0"/>
              </a:spcBef>
              <a:spcAft>
                <a:spcPts val="0"/>
              </a:spcAft>
              <a:buSzPct val="100000"/>
              <a:buFont typeface="Times New Roman"/>
              <a:buChar char="●"/>
            </a:pPr>
            <a:r>
              <a:rPr lang="en" sz="6400">
                <a:latin typeface="Times New Roman"/>
                <a:ea typeface="Times New Roman"/>
                <a:cs typeface="Times New Roman"/>
                <a:sym typeface="Times New Roman"/>
              </a:rPr>
              <a:t>Servo motor SG90-2 ta-200</a:t>
            </a:r>
            <a:endParaRPr sz="6400">
              <a:latin typeface="Times New Roman"/>
              <a:ea typeface="Times New Roman"/>
              <a:cs typeface="Times New Roman"/>
              <a:sym typeface="Times New Roman"/>
            </a:endParaRPr>
          </a:p>
          <a:p>
            <a:pPr indent="-330200" lvl="0" marL="457200" rtl="0" algn="just">
              <a:spcBef>
                <a:spcPts val="0"/>
              </a:spcBef>
              <a:spcAft>
                <a:spcPts val="0"/>
              </a:spcAft>
              <a:buSzPct val="100000"/>
              <a:buFont typeface="Times New Roman"/>
              <a:buChar char="●"/>
            </a:pPr>
            <a:r>
              <a:rPr lang="en" sz="6400">
                <a:latin typeface="Times New Roman"/>
                <a:ea typeface="Times New Roman"/>
                <a:cs typeface="Times New Roman"/>
                <a:sym typeface="Times New Roman"/>
              </a:rPr>
              <a:t>battery 4+ battery holder-380</a:t>
            </a:r>
            <a:endParaRPr sz="6400">
              <a:latin typeface="Times New Roman"/>
              <a:ea typeface="Times New Roman"/>
              <a:cs typeface="Times New Roman"/>
              <a:sym typeface="Times New Roman"/>
            </a:endParaRPr>
          </a:p>
          <a:p>
            <a:pPr indent="-330200" lvl="0" marL="457200" rtl="0" algn="just">
              <a:spcBef>
                <a:spcPts val="0"/>
              </a:spcBef>
              <a:spcAft>
                <a:spcPts val="0"/>
              </a:spcAft>
              <a:buSzPct val="100000"/>
              <a:buFont typeface="Times New Roman"/>
              <a:buChar char="●"/>
            </a:pPr>
            <a:r>
              <a:rPr lang="en" sz="6400">
                <a:latin typeface="Times New Roman"/>
                <a:ea typeface="Times New Roman"/>
                <a:cs typeface="Times New Roman"/>
                <a:sym typeface="Times New Roman"/>
              </a:rPr>
              <a:t>Wire</a:t>
            </a:r>
            <a:endParaRPr sz="6400">
              <a:latin typeface="Times New Roman"/>
              <a:ea typeface="Times New Roman"/>
              <a:cs typeface="Times New Roman"/>
              <a:sym typeface="Times New Roman"/>
            </a:endParaRPr>
          </a:p>
          <a:p>
            <a:pPr indent="-330200" lvl="0" marL="457200" rtl="0" algn="just">
              <a:spcBef>
                <a:spcPts val="0"/>
              </a:spcBef>
              <a:spcAft>
                <a:spcPts val="0"/>
              </a:spcAft>
              <a:buSzPct val="100000"/>
              <a:buFont typeface="Times New Roman"/>
              <a:buChar char="●"/>
            </a:pPr>
            <a:r>
              <a:rPr lang="en" sz="6400">
                <a:latin typeface="Times New Roman"/>
                <a:ea typeface="Times New Roman"/>
                <a:cs typeface="Times New Roman"/>
                <a:sym typeface="Times New Roman"/>
              </a:rPr>
              <a:t>Breadboard</a:t>
            </a:r>
            <a:endParaRPr sz="6400">
              <a:latin typeface="Times New Roman"/>
              <a:ea typeface="Times New Roman"/>
              <a:cs typeface="Times New Roman"/>
              <a:sym typeface="Times New Roman"/>
            </a:endParaRPr>
          </a:p>
          <a:p>
            <a:pPr indent="0" lvl="0" marL="457200" rtl="0" algn="just">
              <a:spcBef>
                <a:spcPts val="1200"/>
              </a:spcBef>
              <a:spcAft>
                <a:spcPts val="0"/>
              </a:spcAft>
              <a:buNone/>
            </a:pPr>
            <a:r>
              <a:t/>
            </a:r>
            <a:endParaRPr sz="6400">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
        <p:nvSpPr>
          <p:cNvPr id="148" name="Google Shape;148;p16"/>
          <p:cNvSpPr txBox="1"/>
          <p:nvPr>
            <p:ph idx="2" type="body"/>
          </p:nvPr>
        </p:nvSpPr>
        <p:spPr>
          <a:xfrm>
            <a:off x="4638675" y="1800225"/>
            <a:ext cx="3686100" cy="26385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sz="1600">
              <a:latin typeface="Times New Roman"/>
              <a:ea typeface="Times New Roman"/>
              <a:cs typeface="Times New Roman"/>
              <a:sym typeface="Times New Roman"/>
            </a:endParaRPr>
          </a:p>
          <a:p>
            <a:pPr indent="-330200" lvl="0" marL="457200" rtl="0" algn="l">
              <a:spcBef>
                <a:spcPts val="1200"/>
              </a:spcBef>
              <a:spcAft>
                <a:spcPts val="0"/>
              </a:spcAft>
              <a:buSzPts val="1600"/>
              <a:buFont typeface="Times New Roman"/>
              <a:buChar char="●"/>
            </a:pPr>
            <a:r>
              <a:rPr lang="en" sz="1600">
                <a:latin typeface="Times New Roman"/>
                <a:ea typeface="Times New Roman"/>
                <a:cs typeface="Times New Roman"/>
                <a:sym typeface="Times New Roman"/>
              </a:rPr>
              <a:t>5v water pump</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Soil moisture sensor</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Temperature sensor</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Buck module-50</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Bluetooth mod-250</a:t>
            </a:r>
            <a:endParaRPr sz="16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8E7CC3"/>
                </a:solidFill>
                <a:latin typeface="Times New Roman"/>
                <a:ea typeface="Times New Roman"/>
                <a:cs typeface="Times New Roman"/>
                <a:sym typeface="Times New Roman"/>
              </a:rPr>
              <a:t>Purpose of the project</a:t>
            </a:r>
            <a:endParaRPr>
              <a:solidFill>
                <a:srgbClr val="8E7CC3"/>
              </a:solidFill>
              <a:latin typeface="Times New Roman"/>
              <a:ea typeface="Times New Roman"/>
              <a:cs typeface="Times New Roman"/>
              <a:sym typeface="Times New Roman"/>
            </a:endParaRPr>
          </a:p>
        </p:txBody>
      </p:sp>
      <p:sp>
        <p:nvSpPr>
          <p:cNvPr id="154" name="Google Shape;154;p17"/>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342900" lvl="0" marL="457200" rtl="0" algn="just">
              <a:lnSpc>
                <a:spcPct val="70000"/>
              </a:lnSpc>
              <a:spcBef>
                <a:spcPts val="0"/>
              </a:spcBef>
              <a:spcAft>
                <a:spcPts val="0"/>
              </a:spcAft>
              <a:buClr>
                <a:srgbClr val="4A86E8"/>
              </a:buClr>
              <a:buSzPts val="1800"/>
              <a:buFont typeface="Times New Roman"/>
              <a:buChar char="●"/>
            </a:pPr>
            <a:r>
              <a:rPr b="1" lang="en" sz="1800">
                <a:solidFill>
                  <a:srgbClr val="4A86E8"/>
                </a:solidFill>
                <a:latin typeface="Times New Roman"/>
                <a:ea typeface="Times New Roman"/>
                <a:cs typeface="Times New Roman"/>
                <a:sym typeface="Times New Roman"/>
              </a:rPr>
              <a:t>Increasing </a:t>
            </a:r>
            <a:r>
              <a:rPr lang="en" sz="1800">
                <a:solidFill>
                  <a:srgbClr val="4A86E8"/>
                </a:solidFill>
                <a:latin typeface="Times New Roman"/>
                <a:ea typeface="Times New Roman"/>
                <a:cs typeface="Times New Roman"/>
                <a:sym typeface="Times New Roman"/>
              </a:rPr>
              <a:t>efficiency, flexibility of the system.</a:t>
            </a:r>
            <a:endParaRPr sz="1800">
              <a:solidFill>
                <a:srgbClr val="4A86E8"/>
              </a:solidFill>
              <a:latin typeface="Times New Roman"/>
              <a:ea typeface="Times New Roman"/>
              <a:cs typeface="Times New Roman"/>
              <a:sym typeface="Times New Roman"/>
            </a:endParaRPr>
          </a:p>
          <a:p>
            <a:pPr indent="0" lvl="0" marL="457200" rtl="0" algn="just">
              <a:lnSpc>
                <a:spcPct val="70000"/>
              </a:lnSpc>
              <a:spcBef>
                <a:spcPts val="0"/>
              </a:spcBef>
              <a:spcAft>
                <a:spcPts val="0"/>
              </a:spcAft>
              <a:buNone/>
            </a:pPr>
            <a:r>
              <a:t/>
            </a:r>
            <a:endParaRPr sz="1800">
              <a:solidFill>
                <a:srgbClr val="4A86E8"/>
              </a:solidFill>
              <a:latin typeface="Times New Roman"/>
              <a:ea typeface="Times New Roman"/>
              <a:cs typeface="Times New Roman"/>
              <a:sym typeface="Times New Roman"/>
            </a:endParaRPr>
          </a:p>
          <a:p>
            <a:pPr indent="-342900" lvl="0" marL="457200" rtl="0" algn="just">
              <a:lnSpc>
                <a:spcPct val="120000"/>
              </a:lnSpc>
              <a:spcBef>
                <a:spcPts val="0"/>
              </a:spcBef>
              <a:spcAft>
                <a:spcPts val="0"/>
              </a:spcAft>
              <a:buClr>
                <a:srgbClr val="4A86E8"/>
              </a:buClr>
              <a:buSzPts val="1800"/>
              <a:buFont typeface="Times New Roman"/>
              <a:buChar char="●"/>
            </a:pPr>
            <a:r>
              <a:rPr lang="en" sz="1800">
                <a:solidFill>
                  <a:srgbClr val="4A86E8"/>
                </a:solidFill>
                <a:latin typeface="Times New Roman"/>
                <a:ea typeface="Times New Roman"/>
                <a:cs typeface="Times New Roman"/>
                <a:sym typeface="Times New Roman"/>
              </a:rPr>
              <a:t>To save our time and effort by taking over the task of keeping our lawn neatly trimmed and watered.</a:t>
            </a:r>
            <a:endParaRPr sz="1800">
              <a:solidFill>
                <a:srgbClr val="4A86E8"/>
              </a:solidFill>
              <a:latin typeface="Times New Roman"/>
              <a:ea typeface="Times New Roman"/>
              <a:cs typeface="Times New Roman"/>
              <a:sym typeface="Times New Roman"/>
            </a:endParaRPr>
          </a:p>
          <a:p>
            <a:pPr indent="0" lvl="0" marL="457200" rtl="0" algn="just">
              <a:lnSpc>
                <a:spcPct val="120000"/>
              </a:lnSpc>
              <a:spcBef>
                <a:spcPts val="0"/>
              </a:spcBef>
              <a:spcAft>
                <a:spcPts val="0"/>
              </a:spcAft>
              <a:buNone/>
            </a:pPr>
            <a:r>
              <a:t/>
            </a:r>
            <a:endParaRPr sz="1800">
              <a:solidFill>
                <a:srgbClr val="4A86E8"/>
              </a:solidFill>
              <a:latin typeface="Times New Roman"/>
              <a:ea typeface="Times New Roman"/>
              <a:cs typeface="Times New Roman"/>
              <a:sym typeface="Times New Roman"/>
            </a:endParaRPr>
          </a:p>
          <a:p>
            <a:pPr indent="-342900" lvl="0" marL="457200" rtl="0" algn="l">
              <a:lnSpc>
                <a:spcPct val="70000"/>
              </a:lnSpc>
              <a:spcBef>
                <a:spcPts val="0"/>
              </a:spcBef>
              <a:spcAft>
                <a:spcPts val="0"/>
              </a:spcAft>
              <a:buClr>
                <a:srgbClr val="4A86E8"/>
              </a:buClr>
              <a:buSzPts val="1800"/>
              <a:buFont typeface="Times New Roman"/>
              <a:buChar char="●"/>
            </a:pPr>
            <a:r>
              <a:rPr b="1" lang="en" sz="1800">
                <a:solidFill>
                  <a:srgbClr val="4A86E8"/>
                </a:solidFill>
                <a:latin typeface="Times New Roman"/>
                <a:ea typeface="Times New Roman"/>
                <a:cs typeface="Times New Roman"/>
                <a:sym typeface="Times New Roman"/>
              </a:rPr>
              <a:t>Improving </a:t>
            </a:r>
            <a:r>
              <a:rPr lang="en" sz="1800">
                <a:solidFill>
                  <a:srgbClr val="4A86E8"/>
                </a:solidFill>
                <a:latin typeface="Times New Roman"/>
                <a:ea typeface="Times New Roman"/>
                <a:cs typeface="Times New Roman"/>
                <a:sym typeface="Times New Roman"/>
              </a:rPr>
              <a:t>management, productivity,Versatility of traditional ways.</a:t>
            </a:r>
            <a:endParaRPr sz="1800">
              <a:solidFill>
                <a:srgbClr val="4A86E8"/>
              </a:solidFill>
              <a:latin typeface="Times New Roman"/>
              <a:ea typeface="Times New Roman"/>
              <a:cs typeface="Times New Roman"/>
              <a:sym typeface="Times New Roman"/>
            </a:endParaRPr>
          </a:p>
          <a:p>
            <a:pPr indent="0" lvl="0" marL="457200" rtl="0" algn="l">
              <a:lnSpc>
                <a:spcPct val="70000"/>
              </a:lnSpc>
              <a:spcBef>
                <a:spcPts val="0"/>
              </a:spcBef>
              <a:spcAft>
                <a:spcPts val="0"/>
              </a:spcAft>
              <a:buNone/>
            </a:pPr>
            <a:r>
              <a:t/>
            </a:r>
            <a:endParaRPr sz="1800">
              <a:solidFill>
                <a:srgbClr val="4A86E8"/>
              </a:solidFill>
              <a:latin typeface="Times New Roman"/>
              <a:ea typeface="Times New Roman"/>
              <a:cs typeface="Times New Roman"/>
              <a:sym typeface="Times New Roman"/>
            </a:endParaRPr>
          </a:p>
          <a:p>
            <a:pPr indent="-342900" lvl="0" marL="457200" rtl="0" algn="l">
              <a:lnSpc>
                <a:spcPct val="70000"/>
              </a:lnSpc>
              <a:spcBef>
                <a:spcPts val="0"/>
              </a:spcBef>
              <a:spcAft>
                <a:spcPts val="0"/>
              </a:spcAft>
              <a:buClr>
                <a:srgbClr val="4A86E8"/>
              </a:buClr>
              <a:buSzPts val="1800"/>
              <a:buFont typeface="Times New Roman"/>
              <a:buChar char="●"/>
            </a:pPr>
            <a:r>
              <a:rPr b="1" lang="en" sz="1800">
                <a:solidFill>
                  <a:srgbClr val="4A86E8"/>
                </a:solidFill>
                <a:latin typeface="Times New Roman"/>
                <a:ea typeface="Times New Roman"/>
                <a:cs typeface="Times New Roman"/>
                <a:sym typeface="Times New Roman"/>
              </a:rPr>
              <a:t>Reducing </a:t>
            </a:r>
            <a:r>
              <a:rPr lang="en" sz="1800">
                <a:solidFill>
                  <a:srgbClr val="4A86E8"/>
                </a:solidFill>
                <a:latin typeface="Times New Roman"/>
                <a:ea typeface="Times New Roman"/>
                <a:cs typeface="Times New Roman"/>
                <a:sym typeface="Times New Roman"/>
              </a:rPr>
              <a:t>monotony, tiredness,mistakes in work when humans are associate with the system management.</a:t>
            </a:r>
            <a:endParaRPr sz="1800">
              <a:solidFill>
                <a:srgbClr val="4A86E8"/>
              </a:solidFill>
              <a:latin typeface="Times New Roman"/>
              <a:ea typeface="Times New Roman"/>
              <a:cs typeface="Times New Roman"/>
              <a:sym typeface="Times New Roman"/>
            </a:endParaRPr>
          </a:p>
          <a:p>
            <a:pPr indent="0" lvl="0" marL="0" rtl="0" algn="l">
              <a:lnSpc>
                <a:spcPct val="95000"/>
              </a:lnSpc>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rgbClr val="000000"/>
              </a:buClr>
              <a:buSzPts val="2400"/>
              <a:buFont typeface="Arial"/>
              <a:buNone/>
            </a:pPr>
            <a:r>
              <a:rPr lang="en" sz="2500">
                <a:solidFill>
                  <a:srgbClr val="8E7CC3"/>
                </a:solidFill>
                <a:latin typeface="Do Hyeon"/>
                <a:ea typeface="Do Hyeon"/>
                <a:cs typeface="Do Hyeon"/>
                <a:sym typeface="Do Hyeon"/>
              </a:rPr>
              <a:t>Functionality Of The Project</a:t>
            </a:r>
            <a:endParaRPr>
              <a:solidFill>
                <a:srgbClr val="8E7CC3"/>
              </a:solidFill>
            </a:endParaRPr>
          </a:p>
        </p:txBody>
      </p:sp>
      <p:sp>
        <p:nvSpPr>
          <p:cNvPr id="160" name="Google Shape;160;p18"/>
          <p:cNvSpPr txBox="1"/>
          <p:nvPr>
            <p:ph idx="1" type="body"/>
          </p:nvPr>
        </p:nvSpPr>
        <p:spPr>
          <a:xfrm>
            <a:off x="819150" y="1521800"/>
            <a:ext cx="7505700" cy="29169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4A86E8"/>
              </a:buClr>
              <a:buSzPts val="1700"/>
              <a:buChar char="●"/>
            </a:pPr>
            <a:r>
              <a:rPr lang="en" sz="1700">
                <a:solidFill>
                  <a:srgbClr val="4A86E8"/>
                </a:solidFill>
                <a:highlight>
                  <a:srgbClr val="FFFFFF"/>
                </a:highlight>
                <a:latin typeface="Times New Roman"/>
                <a:ea typeface="Times New Roman"/>
                <a:cs typeface="Times New Roman"/>
                <a:sym typeface="Times New Roman"/>
              </a:rPr>
              <a:t>Remote control car which is controlled by our mobile phone app.</a:t>
            </a:r>
            <a:endParaRPr sz="1700">
              <a:solidFill>
                <a:srgbClr val="4A86E8"/>
              </a:solidFill>
              <a:highlight>
                <a:srgbClr val="FFFFFF"/>
              </a:highlight>
              <a:latin typeface="Times New Roman"/>
              <a:ea typeface="Times New Roman"/>
              <a:cs typeface="Times New Roman"/>
              <a:sym typeface="Times New Roman"/>
            </a:endParaRPr>
          </a:p>
          <a:p>
            <a:pPr indent="-336550" lvl="0" marL="457200" rtl="0" algn="l">
              <a:spcBef>
                <a:spcPts val="0"/>
              </a:spcBef>
              <a:spcAft>
                <a:spcPts val="0"/>
              </a:spcAft>
              <a:buClr>
                <a:srgbClr val="4A86E8"/>
              </a:buClr>
              <a:buSzPts val="1700"/>
              <a:buFont typeface="Times New Roman"/>
              <a:buChar char="●"/>
            </a:pPr>
            <a:r>
              <a:rPr lang="en" sz="1700">
                <a:solidFill>
                  <a:srgbClr val="4A86E8"/>
                </a:solidFill>
                <a:highlight>
                  <a:srgbClr val="FFFFFF"/>
                </a:highlight>
                <a:latin typeface="Times New Roman"/>
                <a:ea typeface="Times New Roman"/>
                <a:cs typeface="Times New Roman"/>
                <a:sym typeface="Times New Roman"/>
              </a:rPr>
              <a:t>It will turn on the grass cutting blade when we send commands and will turn off after getting commands.</a:t>
            </a:r>
            <a:endParaRPr sz="1700">
              <a:solidFill>
                <a:srgbClr val="4A86E8"/>
              </a:solidFill>
              <a:highlight>
                <a:srgbClr val="FFFFFF"/>
              </a:highlight>
              <a:latin typeface="Times New Roman"/>
              <a:ea typeface="Times New Roman"/>
              <a:cs typeface="Times New Roman"/>
              <a:sym typeface="Times New Roman"/>
            </a:endParaRPr>
          </a:p>
          <a:p>
            <a:pPr indent="-336550" lvl="0" marL="457200" rtl="0" algn="l">
              <a:spcBef>
                <a:spcPts val="0"/>
              </a:spcBef>
              <a:spcAft>
                <a:spcPts val="0"/>
              </a:spcAft>
              <a:buClr>
                <a:srgbClr val="4A86E8"/>
              </a:buClr>
              <a:buSzPts val="1700"/>
              <a:buFont typeface="Times New Roman"/>
              <a:buChar char="●"/>
            </a:pPr>
            <a:r>
              <a:rPr lang="en" sz="1700">
                <a:solidFill>
                  <a:srgbClr val="4A86E8"/>
                </a:solidFill>
                <a:highlight>
                  <a:srgbClr val="FFFFFF"/>
                </a:highlight>
                <a:latin typeface="Times New Roman"/>
                <a:ea typeface="Times New Roman"/>
                <a:cs typeface="Times New Roman"/>
                <a:sym typeface="Times New Roman"/>
              </a:rPr>
              <a:t>Embedded soil sensors analyze moisture levels beneath the surface, autonomously triggering the water pump to nourish your plants when needed. The garden thrives effortlessly as the system adjusts water delivery, conserving resources when moisture levels are optimal.</a:t>
            </a:r>
            <a:endParaRPr sz="1700">
              <a:solidFill>
                <a:srgbClr val="4A86E8"/>
              </a:solidFill>
              <a:highlight>
                <a:srgbClr val="FFFFFF"/>
              </a:highlight>
              <a:latin typeface="Times New Roman"/>
              <a:ea typeface="Times New Roman"/>
              <a:cs typeface="Times New Roman"/>
              <a:sym typeface="Times New Roman"/>
            </a:endParaRPr>
          </a:p>
          <a:p>
            <a:pPr indent="-336550" lvl="0" marL="457200" rtl="0" algn="l">
              <a:spcBef>
                <a:spcPts val="0"/>
              </a:spcBef>
              <a:spcAft>
                <a:spcPts val="0"/>
              </a:spcAft>
              <a:buClr>
                <a:srgbClr val="4A86E8"/>
              </a:buClr>
              <a:buSzPts val="1700"/>
              <a:buFont typeface="Times New Roman"/>
              <a:buChar char="●"/>
            </a:pPr>
            <a:r>
              <a:rPr lang="en" sz="1700">
                <a:solidFill>
                  <a:srgbClr val="4A86E8"/>
                </a:solidFill>
                <a:highlight>
                  <a:srgbClr val="FFFFFF"/>
                </a:highlight>
                <a:latin typeface="Times New Roman"/>
                <a:ea typeface="Times New Roman"/>
                <a:cs typeface="Times New Roman"/>
                <a:sym typeface="Times New Roman"/>
              </a:rPr>
              <a:t>Stay informed about environmental conditions through mobile phone app, providing instant feedback on temperature fluctuations. Keep your plants comfortable and healthy in any weather.</a:t>
            </a:r>
            <a:endParaRPr sz="1700">
              <a:solidFill>
                <a:srgbClr val="4A86E8"/>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350">
                <a:solidFill>
                  <a:srgbClr val="8E7CC3"/>
                </a:solidFill>
                <a:latin typeface="Arial"/>
                <a:ea typeface="Arial"/>
                <a:cs typeface="Arial"/>
                <a:sym typeface="Arial"/>
              </a:rPr>
              <a:t>                         Planning &amp; Design</a:t>
            </a:r>
            <a:endParaRPr sz="4100">
              <a:solidFill>
                <a:srgbClr val="8E7CC3"/>
              </a:solidFill>
            </a:endParaRPr>
          </a:p>
        </p:txBody>
      </p:sp>
      <p:sp>
        <p:nvSpPr>
          <p:cNvPr id="166" name="Google Shape;166;p19"/>
          <p:cNvSpPr txBox="1"/>
          <p:nvPr>
            <p:ph idx="1" type="body"/>
          </p:nvPr>
        </p:nvSpPr>
        <p:spPr>
          <a:xfrm>
            <a:off x="819150" y="1488625"/>
            <a:ext cx="7505700" cy="2950200"/>
          </a:xfrm>
          <a:prstGeom prst="rect">
            <a:avLst/>
          </a:prstGeom>
        </p:spPr>
        <p:txBody>
          <a:bodyPr anchorCtr="0" anchor="t" bIns="91425" lIns="91425" spcFirstLastPara="1" rIns="91425" wrap="square" tIns="91425">
            <a:noAutofit/>
          </a:bodyPr>
          <a:lstStyle/>
          <a:p>
            <a:pPr indent="-323850" lvl="0" marL="457200" rtl="0" algn="just">
              <a:spcBef>
                <a:spcPts val="0"/>
              </a:spcBef>
              <a:spcAft>
                <a:spcPts val="0"/>
              </a:spcAft>
              <a:buClr>
                <a:srgbClr val="4A86E8"/>
              </a:buClr>
              <a:buSzPts val="1500"/>
              <a:buFont typeface="Times New Roman"/>
              <a:buChar char="●"/>
            </a:pPr>
            <a:r>
              <a:rPr lang="en" sz="1500">
                <a:solidFill>
                  <a:srgbClr val="4A86E8"/>
                </a:solidFill>
                <a:latin typeface="Times New Roman"/>
                <a:ea typeface="Times New Roman"/>
                <a:cs typeface="Times New Roman"/>
                <a:sym typeface="Times New Roman"/>
              </a:rPr>
              <a:t>To make the robot move, so we laid out a blueprint to make it resemble a four wheeler car</a:t>
            </a:r>
            <a:endParaRPr sz="1500">
              <a:solidFill>
                <a:srgbClr val="4A86E8"/>
              </a:solidFill>
              <a:latin typeface="Times New Roman"/>
              <a:ea typeface="Times New Roman"/>
              <a:cs typeface="Times New Roman"/>
              <a:sym typeface="Times New Roman"/>
            </a:endParaRPr>
          </a:p>
          <a:p>
            <a:pPr indent="-323850" lvl="0" marL="457200" rtl="0" algn="just">
              <a:spcBef>
                <a:spcPts val="0"/>
              </a:spcBef>
              <a:spcAft>
                <a:spcPts val="0"/>
              </a:spcAft>
              <a:buClr>
                <a:srgbClr val="4A86E8"/>
              </a:buClr>
              <a:buSzPts val="1500"/>
              <a:buFont typeface="Times New Roman"/>
              <a:buChar char="●"/>
            </a:pPr>
            <a:r>
              <a:rPr lang="en" sz="1500">
                <a:solidFill>
                  <a:srgbClr val="4A86E8"/>
                </a:solidFill>
                <a:latin typeface="Times New Roman"/>
                <a:ea typeface="Times New Roman"/>
                <a:cs typeface="Times New Roman"/>
                <a:sym typeface="Times New Roman"/>
              </a:rPr>
              <a:t>The ultimate design of the robot included a PVC board to mimic the body of a car</a:t>
            </a:r>
            <a:endParaRPr sz="1500">
              <a:solidFill>
                <a:srgbClr val="4A86E8"/>
              </a:solidFill>
              <a:latin typeface="Times New Roman"/>
              <a:ea typeface="Times New Roman"/>
              <a:cs typeface="Times New Roman"/>
              <a:sym typeface="Times New Roman"/>
            </a:endParaRPr>
          </a:p>
          <a:p>
            <a:pPr indent="-323850" lvl="0" marL="457200" rtl="0" algn="just">
              <a:spcBef>
                <a:spcPts val="0"/>
              </a:spcBef>
              <a:spcAft>
                <a:spcPts val="0"/>
              </a:spcAft>
              <a:buClr>
                <a:srgbClr val="4A86E8"/>
              </a:buClr>
              <a:buSzPts val="1500"/>
              <a:buFont typeface="Times New Roman"/>
              <a:buChar char="●"/>
            </a:pPr>
            <a:r>
              <a:rPr lang="en" sz="1500">
                <a:solidFill>
                  <a:srgbClr val="4A86E8"/>
                </a:solidFill>
                <a:latin typeface="Times New Roman"/>
                <a:ea typeface="Times New Roman"/>
                <a:cs typeface="Times New Roman"/>
                <a:sym typeface="Times New Roman"/>
              </a:rPr>
              <a:t>The PVC board has four movable wheels attached to it, and on top of the PVC board, all the components that make up our system is laid out</a:t>
            </a:r>
            <a:endParaRPr sz="1500">
              <a:solidFill>
                <a:srgbClr val="4A86E8"/>
              </a:solidFill>
              <a:latin typeface="Times New Roman"/>
              <a:ea typeface="Times New Roman"/>
              <a:cs typeface="Times New Roman"/>
              <a:sym typeface="Times New Roman"/>
            </a:endParaRPr>
          </a:p>
          <a:p>
            <a:pPr indent="-323850" lvl="0" marL="457200" rtl="0" algn="just">
              <a:spcBef>
                <a:spcPts val="0"/>
              </a:spcBef>
              <a:spcAft>
                <a:spcPts val="0"/>
              </a:spcAft>
              <a:buClr>
                <a:srgbClr val="4A86E8"/>
              </a:buClr>
              <a:buSzPts val="1500"/>
              <a:buFont typeface="Times New Roman"/>
              <a:buChar char="●"/>
            </a:pPr>
            <a:r>
              <a:rPr lang="en" sz="1500">
                <a:solidFill>
                  <a:srgbClr val="4A86E8"/>
                </a:solidFill>
                <a:latin typeface="Times New Roman"/>
                <a:ea typeface="Times New Roman"/>
                <a:cs typeface="Times New Roman"/>
                <a:sym typeface="Times New Roman"/>
              </a:rPr>
              <a:t>There are moisture and temperature sensors to measure the </a:t>
            </a:r>
            <a:r>
              <a:rPr lang="en" sz="1500">
                <a:solidFill>
                  <a:srgbClr val="4A86E8"/>
                </a:solidFill>
                <a:latin typeface="Times New Roman"/>
                <a:ea typeface="Times New Roman"/>
                <a:cs typeface="Times New Roman"/>
                <a:sym typeface="Times New Roman"/>
              </a:rPr>
              <a:t>moisture and temperature of soil</a:t>
            </a:r>
            <a:endParaRPr sz="1500">
              <a:solidFill>
                <a:srgbClr val="4A86E8"/>
              </a:solidFill>
              <a:latin typeface="Times New Roman"/>
              <a:ea typeface="Times New Roman"/>
              <a:cs typeface="Times New Roman"/>
              <a:sym typeface="Times New Roman"/>
            </a:endParaRPr>
          </a:p>
          <a:p>
            <a:pPr indent="-323850" lvl="0" marL="457200" rtl="0" algn="just">
              <a:spcBef>
                <a:spcPts val="0"/>
              </a:spcBef>
              <a:spcAft>
                <a:spcPts val="0"/>
              </a:spcAft>
              <a:buClr>
                <a:srgbClr val="4A86E8"/>
              </a:buClr>
              <a:buSzPts val="1500"/>
              <a:buFont typeface="Times New Roman"/>
              <a:buChar char="●"/>
            </a:pPr>
            <a:r>
              <a:rPr lang="en" sz="1500">
                <a:solidFill>
                  <a:srgbClr val="4A86E8"/>
                </a:solidFill>
                <a:latin typeface="Times New Roman"/>
                <a:ea typeface="Times New Roman"/>
                <a:cs typeface="Times New Roman"/>
                <a:sym typeface="Times New Roman"/>
              </a:rPr>
              <a:t>There are motor to move the wheels and servo motors for water dispensing and for soil moisture sensing</a:t>
            </a:r>
            <a:endParaRPr sz="1500">
              <a:solidFill>
                <a:srgbClr val="4A86E8"/>
              </a:solidFill>
              <a:latin typeface="Times New Roman"/>
              <a:ea typeface="Times New Roman"/>
              <a:cs typeface="Times New Roman"/>
              <a:sym typeface="Times New Roman"/>
            </a:endParaRPr>
          </a:p>
          <a:p>
            <a:pPr indent="-323850" lvl="0" marL="457200" rtl="0" algn="l">
              <a:spcBef>
                <a:spcPts val="0"/>
              </a:spcBef>
              <a:spcAft>
                <a:spcPts val="0"/>
              </a:spcAft>
              <a:buClr>
                <a:srgbClr val="4A86E8"/>
              </a:buClr>
              <a:buSzPts val="1500"/>
              <a:buFont typeface="Times New Roman"/>
              <a:buChar char="●"/>
            </a:pPr>
            <a:r>
              <a:rPr lang="en" sz="1500">
                <a:solidFill>
                  <a:srgbClr val="4A86E8"/>
                </a:solidFill>
                <a:latin typeface="Times New Roman"/>
                <a:ea typeface="Times New Roman"/>
                <a:cs typeface="Times New Roman"/>
                <a:sym typeface="Times New Roman"/>
              </a:rPr>
              <a:t>The robot has a bluetooth module attached to the board so it can connect to our cell phones which will act as the remote.</a:t>
            </a:r>
            <a:endParaRPr sz="1500">
              <a:solidFill>
                <a:srgbClr val="4A86E8"/>
              </a:solidFill>
              <a:latin typeface="Times New Roman"/>
              <a:ea typeface="Times New Roman"/>
              <a:cs typeface="Times New Roman"/>
              <a:sym typeface="Times New Roman"/>
            </a:endParaRPr>
          </a:p>
          <a:p>
            <a:pPr indent="0" lvl="0" marL="457200" rtl="0" algn="just">
              <a:spcBef>
                <a:spcPts val="0"/>
              </a:spcBef>
              <a:spcAft>
                <a:spcPts val="0"/>
              </a:spcAft>
              <a:buNone/>
            </a:pPr>
            <a:r>
              <a:rPr lang="en" sz="1500">
                <a:solidFill>
                  <a:srgbClr val="4A86E8"/>
                </a:solidFill>
                <a:latin typeface="Times New Roman"/>
                <a:ea typeface="Times New Roman"/>
                <a:cs typeface="Times New Roman"/>
                <a:sym typeface="Times New Roman"/>
              </a:rPr>
              <a:t> </a:t>
            </a:r>
            <a:endParaRPr sz="1500">
              <a:solidFill>
                <a:srgbClr val="4A86E8"/>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8E7CC3"/>
                </a:solidFill>
                <a:latin typeface="Times New Roman"/>
                <a:ea typeface="Times New Roman"/>
                <a:cs typeface="Times New Roman"/>
                <a:sym typeface="Times New Roman"/>
              </a:rPr>
              <a:t>Diagram</a:t>
            </a:r>
            <a:endParaRPr>
              <a:solidFill>
                <a:srgbClr val="8E7CC3"/>
              </a:solidFill>
              <a:latin typeface="Times New Roman"/>
              <a:ea typeface="Times New Roman"/>
              <a:cs typeface="Times New Roman"/>
              <a:sym typeface="Times New Roman"/>
            </a:endParaRPr>
          </a:p>
        </p:txBody>
      </p:sp>
      <p:sp>
        <p:nvSpPr>
          <p:cNvPr id="172" name="Google Shape;172;p20"/>
          <p:cNvSpPr txBox="1"/>
          <p:nvPr>
            <p:ph idx="1" type="body"/>
          </p:nvPr>
        </p:nvSpPr>
        <p:spPr>
          <a:xfrm>
            <a:off x="553488" y="1555000"/>
            <a:ext cx="3783000" cy="288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rgbClr val="000000"/>
                </a:solidFill>
                <a:latin typeface="Times New Roman"/>
                <a:ea typeface="Times New Roman"/>
                <a:cs typeface="Times New Roman"/>
                <a:sym typeface="Times New Roman"/>
              </a:rPr>
              <a:t>Schematic diagram of the bluetooth controlled car body and the cutter:</a:t>
            </a:r>
            <a:endParaRPr sz="1400"/>
          </a:p>
        </p:txBody>
      </p:sp>
      <p:sp>
        <p:nvSpPr>
          <p:cNvPr id="173" name="Google Shape;173;p20"/>
          <p:cNvSpPr txBox="1"/>
          <p:nvPr>
            <p:ph idx="2" type="body"/>
          </p:nvPr>
        </p:nvSpPr>
        <p:spPr>
          <a:xfrm>
            <a:off x="4638750" y="1555000"/>
            <a:ext cx="3686100" cy="326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latin typeface="Times New Roman"/>
                <a:ea typeface="Times New Roman"/>
                <a:cs typeface="Times New Roman"/>
                <a:sym typeface="Times New Roman"/>
              </a:rPr>
              <a:t>Schematic diagram of the DHT11 and soil moisture sensor and automated water pump:</a:t>
            </a:r>
            <a:endParaRPr b="1" sz="1400">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pic>
        <p:nvPicPr>
          <p:cNvPr id="174" name="Google Shape;174;p20"/>
          <p:cNvPicPr preferRelativeResize="0"/>
          <p:nvPr/>
        </p:nvPicPr>
        <p:blipFill>
          <a:blip r:embed="rId3">
            <a:alphaModFix/>
          </a:blip>
          <a:stretch>
            <a:fillRect/>
          </a:stretch>
        </p:blipFill>
        <p:spPr>
          <a:xfrm>
            <a:off x="4718075" y="2235275"/>
            <a:ext cx="3500900" cy="2671301"/>
          </a:xfrm>
          <a:prstGeom prst="rect">
            <a:avLst/>
          </a:prstGeom>
          <a:noFill/>
          <a:ln>
            <a:noFill/>
          </a:ln>
        </p:spPr>
      </p:pic>
      <p:pic>
        <p:nvPicPr>
          <p:cNvPr id="175" name="Google Shape;175;p20"/>
          <p:cNvPicPr preferRelativeResize="0"/>
          <p:nvPr/>
        </p:nvPicPr>
        <p:blipFill>
          <a:blip r:embed="rId4">
            <a:alphaModFix/>
          </a:blip>
          <a:stretch>
            <a:fillRect/>
          </a:stretch>
        </p:blipFill>
        <p:spPr>
          <a:xfrm>
            <a:off x="553500" y="2235275"/>
            <a:ext cx="3782975" cy="2671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990"/>
              <a:buFont typeface="Arial"/>
              <a:buNone/>
            </a:pPr>
            <a:r>
              <a:rPr lang="en" sz="2420">
                <a:solidFill>
                  <a:srgbClr val="8E7CC3"/>
                </a:solidFill>
                <a:latin typeface="Do Hyeon"/>
                <a:ea typeface="Do Hyeon"/>
                <a:cs typeface="Do Hyeon"/>
                <a:sym typeface="Do Hyeon"/>
              </a:rPr>
              <a:t>System Demonstration</a:t>
            </a:r>
            <a:endParaRPr sz="2420">
              <a:solidFill>
                <a:srgbClr val="8E7CC3"/>
              </a:solidFill>
              <a:latin typeface="Do Hyeon"/>
              <a:ea typeface="Do Hyeon"/>
              <a:cs typeface="Do Hyeon"/>
              <a:sym typeface="Do Hyeon"/>
            </a:endParaRPr>
          </a:p>
          <a:p>
            <a:pPr indent="0" lvl="0" marL="0" rtl="0" algn="l">
              <a:spcBef>
                <a:spcPts val="0"/>
              </a:spcBef>
              <a:spcAft>
                <a:spcPts val="0"/>
              </a:spcAft>
              <a:buSzPts val="990"/>
              <a:buNone/>
            </a:pPr>
            <a:r>
              <a:t/>
            </a:r>
            <a:endParaRPr sz="2700"/>
          </a:p>
        </p:txBody>
      </p:sp>
      <p:sp>
        <p:nvSpPr>
          <p:cNvPr id="181" name="Google Shape;181;p21"/>
          <p:cNvSpPr txBox="1"/>
          <p:nvPr>
            <p:ph idx="1" type="body"/>
          </p:nvPr>
        </p:nvSpPr>
        <p:spPr>
          <a:xfrm>
            <a:off x="819150" y="1637950"/>
            <a:ext cx="7505700" cy="3417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700">
                <a:solidFill>
                  <a:srgbClr val="4A86E8"/>
                </a:solidFill>
                <a:latin typeface="Times New Roman"/>
                <a:ea typeface="Times New Roman"/>
                <a:cs typeface="Times New Roman"/>
                <a:sym typeface="Times New Roman"/>
              </a:rPr>
              <a:t>The video link:</a:t>
            </a:r>
            <a:endParaRPr b="1" sz="1700">
              <a:solidFill>
                <a:srgbClr val="4A86E8"/>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rgbClr val="000000"/>
              </a:buClr>
              <a:buSzPts val="1500"/>
              <a:buFont typeface="Arial"/>
              <a:buNone/>
            </a:pPr>
            <a:r>
              <a:t/>
            </a:r>
            <a:endParaRPr b="1" sz="1600">
              <a:solidFill>
                <a:srgbClr val="4A86E8"/>
              </a:solidFill>
              <a:latin typeface="Times New Roman"/>
              <a:ea typeface="Times New Roman"/>
              <a:cs typeface="Times New Roman"/>
              <a:sym typeface="Times New Roman"/>
            </a:endParaRPr>
          </a:p>
          <a:p>
            <a:pPr indent="-330200" lvl="0" marL="457200" rtl="0" algn="just">
              <a:lnSpc>
                <a:spcPct val="140000"/>
              </a:lnSpc>
              <a:spcBef>
                <a:spcPts val="0"/>
              </a:spcBef>
              <a:spcAft>
                <a:spcPts val="0"/>
              </a:spcAft>
              <a:buSzPts val="1600"/>
              <a:buFont typeface="Times New Roman"/>
              <a:buChar char="●"/>
            </a:pPr>
            <a:r>
              <a:rPr lang="en" sz="1600">
                <a:solidFill>
                  <a:srgbClr val="4A86E8"/>
                </a:solidFill>
                <a:latin typeface="Times New Roman"/>
                <a:ea typeface="Times New Roman"/>
                <a:cs typeface="Times New Roman"/>
                <a:sym typeface="Times New Roman"/>
              </a:rPr>
              <a:t>  </a:t>
            </a:r>
            <a:r>
              <a:rPr b="1" lang="en" sz="1600" u="sng">
                <a:solidFill>
                  <a:srgbClr val="1155CC"/>
                </a:solidFill>
                <a:latin typeface="Times New Roman"/>
                <a:ea typeface="Times New Roman"/>
                <a:cs typeface="Times New Roman"/>
                <a:sym typeface="Times New Roman"/>
                <a:hlinkClick r:id="rId3">
                  <a:extLst>
                    <a:ext uri="{A12FA001-AC4F-418D-AE19-62706E023703}">
                      <ahyp:hlinkClr val="tx"/>
                    </a:ext>
                  </a:extLst>
                </a:hlinkClick>
              </a:rPr>
              <a:t>Robot Demonstration</a:t>
            </a:r>
            <a:endParaRPr sz="1600">
              <a:solidFill>
                <a:srgbClr val="4A86E8"/>
              </a:solidFill>
              <a:latin typeface="Times New Roman"/>
              <a:ea typeface="Times New Roman"/>
              <a:cs typeface="Times New Roman"/>
              <a:sym typeface="Times New Roman"/>
            </a:endParaRPr>
          </a:p>
          <a:p>
            <a:pPr indent="0" lvl="0" marL="457200" rtl="0" algn="just">
              <a:lnSpc>
                <a:spcPct val="140000"/>
              </a:lnSpc>
              <a:spcBef>
                <a:spcPts val="0"/>
              </a:spcBef>
              <a:spcAft>
                <a:spcPts val="0"/>
              </a:spcAft>
              <a:buNone/>
            </a:pPr>
            <a:r>
              <a:t/>
            </a:r>
            <a:endParaRPr sz="1600">
              <a:solidFill>
                <a:srgbClr val="4A86E8"/>
              </a:solidFill>
              <a:latin typeface="Times New Roman"/>
              <a:ea typeface="Times New Roman"/>
              <a:cs typeface="Times New Roman"/>
              <a:sym typeface="Times New Roman"/>
            </a:endParaRPr>
          </a:p>
          <a:p>
            <a:pPr indent="0" lvl="0" marL="0" rtl="0" algn="just">
              <a:lnSpc>
                <a:spcPct val="140000"/>
              </a:lnSpc>
              <a:spcBef>
                <a:spcPts val="0"/>
              </a:spcBef>
              <a:spcAft>
                <a:spcPts val="0"/>
              </a:spcAft>
              <a:buNone/>
            </a:pPr>
            <a:r>
              <a:rPr lang="en" sz="1700">
                <a:solidFill>
                  <a:srgbClr val="4A86E8"/>
                </a:solidFill>
                <a:latin typeface="Times New Roman"/>
                <a:ea typeface="Times New Roman"/>
                <a:cs typeface="Times New Roman"/>
                <a:sym typeface="Times New Roman"/>
              </a:rPr>
              <a:t>User manual link:</a:t>
            </a:r>
            <a:endParaRPr sz="1700">
              <a:solidFill>
                <a:srgbClr val="4A86E8"/>
              </a:solidFill>
              <a:latin typeface="Times New Roman"/>
              <a:ea typeface="Times New Roman"/>
              <a:cs typeface="Times New Roman"/>
              <a:sym typeface="Times New Roman"/>
            </a:endParaRPr>
          </a:p>
          <a:p>
            <a:pPr indent="0" lvl="0" marL="0" rtl="0" algn="just">
              <a:spcBef>
                <a:spcPts val="0"/>
              </a:spcBef>
              <a:spcAft>
                <a:spcPts val="0"/>
              </a:spcAft>
              <a:buNone/>
            </a:pPr>
            <a:r>
              <a:t/>
            </a:r>
            <a:endParaRPr b="1" sz="1600">
              <a:solidFill>
                <a:srgbClr val="000000"/>
              </a:solidFill>
              <a:latin typeface="Times New Roman"/>
              <a:ea typeface="Times New Roman"/>
              <a:cs typeface="Times New Roman"/>
              <a:sym typeface="Times New Roman"/>
            </a:endParaRPr>
          </a:p>
          <a:p>
            <a:pPr indent="-330200" lvl="0" marL="457200" rtl="0" algn="just">
              <a:spcBef>
                <a:spcPts val="0"/>
              </a:spcBef>
              <a:spcAft>
                <a:spcPts val="0"/>
              </a:spcAft>
              <a:buSzPts val="1600"/>
              <a:buFont typeface="Arial"/>
              <a:buChar char="●"/>
            </a:pPr>
            <a:r>
              <a:rPr lang="en" sz="1600" u="sng">
                <a:solidFill>
                  <a:srgbClr val="1155CC"/>
                </a:solidFill>
                <a:latin typeface="Arial"/>
                <a:ea typeface="Arial"/>
                <a:cs typeface="Arial"/>
                <a:sym typeface="Arial"/>
                <a:hlinkClick r:id="rId4">
                  <a:extLst>
                    <a:ext uri="{A12FA001-AC4F-418D-AE19-62706E023703}">
                      <ahyp:hlinkClr val="tx"/>
                    </a:ext>
                  </a:extLst>
                </a:hlinkClick>
              </a:rPr>
              <a:t>User Manual for the car and cutter</a:t>
            </a:r>
            <a:endParaRPr b="1" sz="1600">
              <a:solidFill>
                <a:srgbClr val="000000"/>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b="1" sz="1600">
              <a:solidFill>
                <a:srgbClr val="000000"/>
              </a:solidFill>
              <a:latin typeface="Times New Roman"/>
              <a:ea typeface="Times New Roman"/>
              <a:cs typeface="Times New Roman"/>
              <a:sym typeface="Times New Roman"/>
            </a:endParaRPr>
          </a:p>
          <a:p>
            <a:pPr indent="-330200" lvl="0" marL="457200" rtl="0" algn="just">
              <a:spcBef>
                <a:spcPts val="0"/>
              </a:spcBef>
              <a:spcAft>
                <a:spcPts val="0"/>
              </a:spcAft>
              <a:buClr>
                <a:srgbClr val="000000"/>
              </a:buClr>
              <a:buSzPts val="1600"/>
              <a:buFont typeface="Times New Roman"/>
              <a:buChar char="●"/>
            </a:pPr>
            <a:r>
              <a:rPr lang="en" sz="1600" u="sng">
                <a:solidFill>
                  <a:srgbClr val="1155CC"/>
                </a:solidFill>
                <a:latin typeface="Arial"/>
                <a:ea typeface="Arial"/>
                <a:cs typeface="Arial"/>
                <a:sym typeface="Arial"/>
                <a:hlinkClick r:id="rId5">
                  <a:extLst>
                    <a:ext uri="{A12FA001-AC4F-418D-AE19-62706E023703}">
                      <ahyp:hlinkClr val="tx"/>
                    </a:ext>
                  </a:extLst>
                </a:hlinkClick>
              </a:rPr>
              <a:t>User manual for the DHT11(temperature sensor) and soil moisture sensor and automated water pump.pdf</a:t>
            </a:r>
            <a:endParaRPr b="1" sz="1600">
              <a:solidFill>
                <a:srgbClr val="000000"/>
              </a:solidFill>
              <a:latin typeface="Times New Roman"/>
              <a:ea typeface="Times New Roman"/>
              <a:cs typeface="Times New Roman"/>
              <a:sym typeface="Times New Roman"/>
            </a:endParaRPr>
          </a:p>
          <a:p>
            <a:pPr indent="0" lvl="0" marL="0" rtl="0" algn="just">
              <a:spcBef>
                <a:spcPts val="0"/>
              </a:spcBef>
              <a:spcAft>
                <a:spcPts val="0"/>
              </a:spcAft>
              <a:buNone/>
            </a:pPr>
            <a:r>
              <a:t/>
            </a:r>
            <a:endParaRPr b="1" sz="1600">
              <a:solidFill>
                <a:srgbClr val="000000"/>
              </a:solidFill>
              <a:latin typeface="Times New Roman"/>
              <a:ea typeface="Times New Roman"/>
              <a:cs typeface="Times New Roman"/>
              <a:sym typeface="Times New Roman"/>
            </a:endParaRPr>
          </a:p>
          <a:p>
            <a:pPr indent="0" lvl="0" marL="0" rtl="0" algn="just">
              <a:spcBef>
                <a:spcPts val="0"/>
              </a:spcBef>
              <a:spcAft>
                <a:spcPts val="0"/>
              </a:spcAft>
              <a:buNone/>
            </a:pPr>
            <a:r>
              <a:t/>
            </a:r>
            <a:endParaRPr b="1" sz="1600">
              <a:solidFill>
                <a:srgbClr val="000000"/>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b="1" sz="1600">
              <a:solidFill>
                <a:srgbClr val="000000"/>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b="1" sz="1600">
              <a:solidFill>
                <a:srgbClr val="000000"/>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b="1" sz="1600">
              <a:solidFill>
                <a:srgbClr val="000000"/>
              </a:solidFill>
              <a:latin typeface="Times New Roman"/>
              <a:ea typeface="Times New Roman"/>
              <a:cs typeface="Times New Roman"/>
              <a:sym typeface="Times New Roman"/>
            </a:endParaRPr>
          </a:p>
          <a:p>
            <a:pPr indent="0" lvl="0" marL="0" rtl="0" algn="just">
              <a:lnSpc>
                <a:spcPct val="140000"/>
              </a:lnSpc>
              <a:spcBef>
                <a:spcPts val="0"/>
              </a:spcBef>
              <a:spcAft>
                <a:spcPts val="0"/>
              </a:spcAft>
              <a:buNone/>
            </a:pPr>
            <a:r>
              <a:t/>
            </a:r>
            <a:endParaRPr sz="1600">
              <a:solidFill>
                <a:srgbClr val="4A86E8"/>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8E7CC3"/>
                </a:solidFill>
              </a:rPr>
              <a:t>Challenges faced:</a:t>
            </a:r>
            <a:endParaRPr>
              <a:solidFill>
                <a:srgbClr val="8E7CC3"/>
              </a:solidFill>
            </a:endParaRPr>
          </a:p>
        </p:txBody>
      </p:sp>
      <p:sp>
        <p:nvSpPr>
          <p:cNvPr id="187" name="Google Shape;187;p2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25000" lnSpcReduction="20000"/>
          </a:bodyPr>
          <a:lstStyle/>
          <a:p>
            <a:pPr indent="-342900" lvl="0" marL="457200" rtl="0" algn="just">
              <a:spcBef>
                <a:spcPts val="0"/>
              </a:spcBef>
              <a:spcAft>
                <a:spcPts val="0"/>
              </a:spcAft>
              <a:buClr>
                <a:srgbClr val="4A86E8"/>
              </a:buClr>
              <a:buSzPct val="100000"/>
              <a:buFont typeface="Times New Roman"/>
              <a:buChar char="●"/>
            </a:pPr>
            <a:r>
              <a:rPr lang="en" sz="7200">
                <a:solidFill>
                  <a:srgbClr val="4A86E8"/>
                </a:solidFill>
                <a:latin typeface="Times New Roman"/>
                <a:ea typeface="Times New Roman"/>
                <a:cs typeface="Times New Roman"/>
                <a:sym typeface="Times New Roman"/>
              </a:rPr>
              <a:t>Bluetooth</a:t>
            </a:r>
            <a:r>
              <a:rPr lang="en" sz="7200">
                <a:solidFill>
                  <a:srgbClr val="4A86E8"/>
                </a:solidFill>
                <a:latin typeface="Times New Roman"/>
                <a:ea typeface="Times New Roman"/>
                <a:cs typeface="Times New Roman"/>
                <a:sym typeface="Times New Roman"/>
              </a:rPr>
              <a:t> module wasn’t connecting</a:t>
            </a:r>
            <a:endParaRPr sz="7200">
              <a:solidFill>
                <a:srgbClr val="4A86E8"/>
              </a:solidFill>
              <a:latin typeface="Times New Roman"/>
              <a:ea typeface="Times New Roman"/>
              <a:cs typeface="Times New Roman"/>
              <a:sym typeface="Times New Roman"/>
            </a:endParaRPr>
          </a:p>
          <a:p>
            <a:pPr indent="-342900" lvl="0" marL="457200" rtl="0" algn="just">
              <a:spcBef>
                <a:spcPts val="0"/>
              </a:spcBef>
              <a:spcAft>
                <a:spcPts val="0"/>
              </a:spcAft>
              <a:buClr>
                <a:srgbClr val="4A86E8"/>
              </a:buClr>
              <a:buSzPct val="100000"/>
              <a:buFont typeface="Times New Roman"/>
              <a:buChar char="●"/>
            </a:pPr>
            <a:r>
              <a:rPr lang="en" sz="7200">
                <a:solidFill>
                  <a:srgbClr val="4A86E8"/>
                </a:solidFill>
                <a:latin typeface="Times New Roman"/>
                <a:ea typeface="Times New Roman"/>
                <a:cs typeface="Times New Roman"/>
                <a:sym typeface="Times New Roman"/>
              </a:rPr>
              <a:t>Moisture sensor movement with servo motor had an issue  </a:t>
            </a:r>
            <a:endParaRPr sz="7200">
              <a:solidFill>
                <a:srgbClr val="4A86E8"/>
              </a:solidFill>
              <a:latin typeface="Times New Roman"/>
              <a:ea typeface="Times New Roman"/>
              <a:cs typeface="Times New Roman"/>
              <a:sym typeface="Times New Roman"/>
            </a:endParaRPr>
          </a:p>
          <a:p>
            <a:pPr indent="-342900" lvl="0" marL="457200" rtl="0" algn="just">
              <a:spcBef>
                <a:spcPts val="0"/>
              </a:spcBef>
              <a:spcAft>
                <a:spcPts val="0"/>
              </a:spcAft>
              <a:buClr>
                <a:srgbClr val="4A86E8"/>
              </a:buClr>
              <a:buSzPct val="100000"/>
              <a:buFont typeface="Times New Roman"/>
              <a:buChar char="●"/>
            </a:pPr>
            <a:r>
              <a:rPr lang="en" sz="7200">
                <a:solidFill>
                  <a:srgbClr val="4A86E8"/>
                </a:solidFill>
                <a:highlight>
                  <a:srgbClr val="FFFFFF"/>
                </a:highlight>
                <a:latin typeface="Times New Roman"/>
                <a:ea typeface="Times New Roman"/>
                <a:cs typeface="Times New Roman"/>
                <a:sym typeface="Times New Roman"/>
              </a:rPr>
              <a:t>Some components have been damaged and need replacement</a:t>
            </a:r>
            <a:endParaRPr sz="7200">
              <a:solidFill>
                <a:srgbClr val="4A86E8"/>
              </a:solidFill>
              <a:highlight>
                <a:srgbClr val="FFFFFF"/>
              </a:highlight>
              <a:latin typeface="Times New Roman"/>
              <a:ea typeface="Times New Roman"/>
              <a:cs typeface="Times New Roman"/>
              <a:sym typeface="Times New Roman"/>
            </a:endParaRPr>
          </a:p>
          <a:p>
            <a:pPr indent="-342900" lvl="0" marL="457200" rtl="0" algn="just">
              <a:spcBef>
                <a:spcPts val="0"/>
              </a:spcBef>
              <a:spcAft>
                <a:spcPts val="0"/>
              </a:spcAft>
              <a:buClr>
                <a:srgbClr val="4A86E8"/>
              </a:buClr>
              <a:buSzPct val="100000"/>
              <a:buFont typeface="Times New Roman"/>
              <a:buChar char="●"/>
            </a:pPr>
            <a:r>
              <a:rPr lang="en" sz="7200">
                <a:solidFill>
                  <a:srgbClr val="4A86E8"/>
                </a:solidFill>
                <a:latin typeface="Times New Roman"/>
                <a:ea typeface="Times New Roman"/>
                <a:cs typeface="Times New Roman"/>
                <a:sym typeface="Times New Roman"/>
              </a:rPr>
              <a:t>ESP32 have been damaged (was to be used for iot connection bluetooth module used instead)</a:t>
            </a:r>
            <a:endParaRPr sz="7200">
              <a:solidFill>
                <a:srgbClr val="4A86E8"/>
              </a:solidFill>
              <a:latin typeface="Times New Roman"/>
              <a:ea typeface="Times New Roman"/>
              <a:cs typeface="Times New Roman"/>
              <a:sym typeface="Times New Roman"/>
            </a:endParaRPr>
          </a:p>
          <a:p>
            <a:pPr indent="-342900" lvl="0" marL="457200" rtl="0" algn="just">
              <a:spcBef>
                <a:spcPts val="0"/>
              </a:spcBef>
              <a:spcAft>
                <a:spcPts val="0"/>
              </a:spcAft>
              <a:buClr>
                <a:srgbClr val="4A86E8"/>
              </a:buClr>
              <a:buSzPct val="100000"/>
              <a:buFont typeface="Times New Roman"/>
              <a:buChar char="●"/>
            </a:pPr>
            <a:r>
              <a:rPr lang="en" sz="7200">
                <a:solidFill>
                  <a:srgbClr val="4A86E8"/>
                </a:solidFill>
                <a:latin typeface="Times New Roman"/>
                <a:ea typeface="Times New Roman"/>
                <a:cs typeface="Times New Roman"/>
                <a:sym typeface="Times New Roman"/>
              </a:rPr>
              <a:t>Debugging - </a:t>
            </a:r>
            <a:r>
              <a:rPr lang="en" sz="7200">
                <a:solidFill>
                  <a:srgbClr val="4A86E8"/>
                </a:solidFill>
                <a:latin typeface="Times New Roman"/>
                <a:ea typeface="Times New Roman"/>
                <a:cs typeface="Times New Roman"/>
                <a:sym typeface="Times New Roman"/>
              </a:rPr>
              <a:t>didn't</a:t>
            </a:r>
            <a:r>
              <a:rPr lang="en" sz="7200">
                <a:solidFill>
                  <a:srgbClr val="4A86E8"/>
                </a:solidFill>
                <a:latin typeface="Times New Roman"/>
                <a:ea typeface="Times New Roman"/>
                <a:cs typeface="Times New Roman"/>
                <a:sym typeface="Times New Roman"/>
              </a:rPr>
              <a:t> get output through single computer</a:t>
            </a:r>
            <a:endParaRPr sz="7200">
              <a:solidFill>
                <a:srgbClr val="4A86E8"/>
              </a:solidFill>
              <a:latin typeface="Times New Roman"/>
              <a:ea typeface="Times New Roman"/>
              <a:cs typeface="Times New Roman"/>
              <a:sym typeface="Times New Roman"/>
            </a:endParaRPr>
          </a:p>
          <a:p>
            <a:pPr indent="-342900" lvl="0" marL="457200" rtl="0" algn="just">
              <a:spcBef>
                <a:spcPts val="0"/>
              </a:spcBef>
              <a:spcAft>
                <a:spcPts val="0"/>
              </a:spcAft>
              <a:buClr>
                <a:srgbClr val="4A86E8"/>
              </a:buClr>
              <a:buSzPct val="100000"/>
              <a:buFont typeface="Times New Roman"/>
              <a:buChar char="●"/>
            </a:pPr>
            <a:r>
              <a:rPr lang="en" sz="7200">
                <a:solidFill>
                  <a:srgbClr val="4A86E8"/>
                </a:solidFill>
                <a:latin typeface="Times New Roman"/>
                <a:ea typeface="Times New Roman"/>
                <a:cs typeface="Times New Roman"/>
                <a:sym typeface="Times New Roman"/>
              </a:rPr>
              <a:t>Code wasn’t working after merging</a:t>
            </a:r>
            <a:endParaRPr sz="7200">
              <a:solidFill>
                <a:srgbClr val="4A86E8"/>
              </a:solidFill>
              <a:latin typeface="Times New Roman"/>
              <a:ea typeface="Times New Roman"/>
              <a:cs typeface="Times New Roman"/>
              <a:sym typeface="Times New Roman"/>
            </a:endParaRPr>
          </a:p>
          <a:p>
            <a:pPr indent="-342900" lvl="0" marL="457200" rtl="0" algn="just">
              <a:spcBef>
                <a:spcPts val="0"/>
              </a:spcBef>
              <a:spcAft>
                <a:spcPts val="0"/>
              </a:spcAft>
              <a:buClr>
                <a:srgbClr val="4A86E8"/>
              </a:buClr>
              <a:buSzPct val="100000"/>
              <a:buFont typeface="Times New Roman"/>
              <a:buChar char="●"/>
            </a:pPr>
            <a:r>
              <a:rPr lang="en" sz="7200">
                <a:solidFill>
                  <a:srgbClr val="4A86E8"/>
                </a:solidFill>
                <a:latin typeface="Times New Roman"/>
                <a:ea typeface="Times New Roman"/>
                <a:cs typeface="Times New Roman"/>
                <a:sym typeface="Times New Roman"/>
              </a:rPr>
              <a:t>Power supply wasn’t enough to power the arduino.</a:t>
            </a:r>
            <a:endParaRPr sz="7200">
              <a:solidFill>
                <a:srgbClr val="4A86E8"/>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6800">
              <a:solidFill>
                <a:srgbClr val="4A86E8"/>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6800">
              <a:solidFill>
                <a:srgbClr val="4A86E8"/>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rgbClr val="4A86E8"/>
              </a:solidFill>
              <a:latin typeface="Times New Roman"/>
              <a:ea typeface="Times New Roman"/>
              <a:cs typeface="Times New Roman"/>
              <a:sym typeface="Times New Roman"/>
            </a:endParaRPr>
          </a:p>
          <a:p>
            <a:pPr indent="0" lvl="0" marL="0" rtl="0" algn="just">
              <a:spcBef>
                <a:spcPts val="0"/>
              </a:spcBef>
              <a:spcAft>
                <a:spcPts val="1200"/>
              </a:spcAft>
              <a:buNone/>
            </a:pPr>
            <a:r>
              <a:t/>
            </a:r>
            <a:endParaRPr sz="1600">
              <a:solidFill>
                <a:srgbClr val="4A86E8"/>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3"/>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pic>
        <p:nvPicPr>
          <p:cNvPr id="193" name="Google Shape;193;p23"/>
          <p:cNvPicPr preferRelativeResize="0"/>
          <p:nvPr/>
        </p:nvPicPr>
        <p:blipFill>
          <a:blip r:embed="rId3">
            <a:alphaModFix/>
          </a:blip>
          <a:stretch>
            <a:fillRect/>
          </a:stretch>
        </p:blipFill>
        <p:spPr>
          <a:xfrm>
            <a:off x="828675" y="504825"/>
            <a:ext cx="7486650" cy="4133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